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9090756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9090756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809b4165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809b4165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91e1f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91e1f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809b4165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809b4165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809b4165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809b4165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809b4165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809b4165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1012a4eb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1012a4e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81012a4e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81012a4e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81012a4e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81012a4e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1012a4e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81012a4e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81012a4e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81012a4e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81012a4eb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81012a4eb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09b41652_0_1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809b4165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809b4165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809b4165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809b4165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809b4165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809b4165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809b4165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809b4165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809b4165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809b41652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809b4165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809b4165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809b4165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809b4165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809b4165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e9090756a_1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e9090756a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9090756a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9090756a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uggingface.co/datasets/wikimedia/wikipedi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run.sh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62725" y="1121850"/>
            <a:ext cx="8874600" cy="11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LANGUAGE IDENTIFICATION</a:t>
            </a:r>
            <a:endParaRPr sz="52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37075" y="3245048"/>
            <a:ext cx="82221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Rebecca Micol Finzi       </a:t>
            </a:r>
            <a:r>
              <a:rPr lang="en" sz="1300"/>
              <a:t>Olesia Galynskaia       Yeongshin Park       Julia Chalissery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                          (12505266)                     (12321492)               (12432938)              (52007582)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</a:t>
            </a:r>
            <a:r>
              <a:rPr lang="en" sz="1300"/>
              <a:t>   </a:t>
            </a:r>
            <a:endParaRPr sz="1300"/>
          </a:p>
        </p:txBody>
      </p:sp>
      <p:sp>
        <p:nvSpPr>
          <p:cNvPr id="69" name="Google Shape;69;p13"/>
          <p:cNvSpPr txBox="1"/>
          <p:nvPr/>
        </p:nvSpPr>
        <p:spPr>
          <a:xfrm>
            <a:off x="2845200" y="2057249"/>
            <a:ext cx="34536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5A6BD"/>
                </a:solidFill>
                <a:latin typeface="Roboto"/>
                <a:ea typeface="Roboto"/>
                <a:cs typeface="Roboto"/>
                <a:sym typeface="Roboto"/>
              </a:rPr>
              <a:t>NLP &amp; Information Extraction</a:t>
            </a:r>
            <a:endParaRPr sz="1800">
              <a:solidFill>
                <a:srgbClr val="D5A6B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0" l="7783" r="0" t="0"/>
          <a:stretch/>
        </p:blipFill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490250" y="488250"/>
            <a:ext cx="8058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Mission: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Build a multilingual dataset for automatic language identification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273150"/>
            <a:ext cx="8222100" cy="123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OVERVIEW</a:t>
            </a:r>
            <a:endParaRPr sz="4800"/>
          </a:p>
        </p:txBody>
      </p:sp>
      <p:cxnSp>
        <p:nvCxnSpPr>
          <p:cNvPr id="81" name="Google Shape;81;p15"/>
          <p:cNvCxnSpPr/>
          <p:nvPr/>
        </p:nvCxnSpPr>
        <p:spPr>
          <a:xfrm>
            <a:off x="929038" y="25079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929062" y="2768462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41B47"/>
                </a:solidFill>
              </a:rPr>
              <a:t>Pre-processing</a:t>
            </a:r>
            <a:endParaRPr sz="1700">
              <a:solidFill>
                <a:srgbClr val="741B47"/>
              </a:solidFill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3395738" y="23555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5"/>
          <p:cNvSpPr txBox="1"/>
          <p:nvPr>
            <p:ph type="title"/>
          </p:nvPr>
        </p:nvSpPr>
        <p:spPr>
          <a:xfrm>
            <a:off x="3395751" y="2507950"/>
            <a:ext cx="27525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41B47"/>
                </a:solidFill>
              </a:rPr>
              <a:t>Multiple Baseline Solutions</a:t>
            </a:r>
            <a:endParaRPr sz="1700">
              <a:solidFill>
                <a:srgbClr val="741B47"/>
              </a:solidFill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6457563" y="205310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5"/>
          <p:cNvSpPr txBox="1"/>
          <p:nvPr>
            <p:ph type="title"/>
          </p:nvPr>
        </p:nvSpPr>
        <p:spPr>
          <a:xfrm>
            <a:off x="6457587" y="2376358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41B47"/>
                </a:solidFill>
              </a:rPr>
              <a:t>Final Model</a:t>
            </a:r>
            <a:endParaRPr sz="17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41B47"/>
                </a:solidFill>
              </a:rPr>
              <a:t>And</a:t>
            </a:r>
            <a:endParaRPr sz="17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41B47"/>
                </a:solidFill>
              </a:rPr>
              <a:t>Evaluation</a:t>
            </a:r>
            <a:endParaRPr sz="1700">
              <a:solidFill>
                <a:srgbClr val="741B47"/>
              </a:solidFill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929030" y="3219673"/>
            <a:ext cx="6993309" cy="1520400"/>
            <a:chOff x="929030" y="3219673"/>
            <a:chExt cx="6993309" cy="1520400"/>
          </a:xfrm>
        </p:grpSpPr>
        <p:cxnSp>
          <p:nvCxnSpPr>
            <p:cNvPr id="88" name="Google Shape;88;p15"/>
            <p:cNvCxnSpPr>
              <a:stCxn id="89" idx="6"/>
              <a:endCxn id="90" idx="2"/>
            </p:cNvCxnSpPr>
            <p:nvPr/>
          </p:nvCxnSpPr>
          <p:spPr>
            <a:xfrm>
              <a:off x="1537730" y="3979907"/>
              <a:ext cx="4864200" cy="0"/>
            </a:xfrm>
            <a:prstGeom prst="straightConnector1">
              <a:avLst/>
            </a:prstGeom>
            <a:noFill/>
            <a:ln cap="flat" cmpd="sng" w="19050">
              <a:solidFill>
                <a:srgbClr val="741B47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9" name="Google Shape;89;p15"/>
            <p:cNvSpPr/>
            <p:nvPr/>
          </p:nvSpPr>
          <p:spPr>
            <a:xfrm>
              <a:off x="929030" y="3675557"/>
              <a:ext cx="608700" cy="608700"/>
            </a:xfrm>
            <a:prstGeom prst="ellipse">
              <a:avLst/>
            </a:prstGeom>
            <a:solidFill>
              <a:srgbClr val="A64D79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lt1"/>
                </a:solidFill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3421283" y="3431305"/>
              <a:ext cx="1097100" cy="1097100"/>
            </a:xfrm>
            <a:prstGeom prst="ellipse">
              <a:avLst/>
            </a:prstGeom>
            <a:solidFill>
              <a:srgbClr val="A64D79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0">
                  <a:solidFill>
                    <a:schemeClr val="lt1"/>
                  </a:solidFill>
                </a:rPr>
                <a:t> </a:t>
              </a:r>
              <a:r>
                <a:rPr lang="en" sz="4500">
                  <a:solidFill>
                    <a:schemeClr val="lt1"/>
                  </a:solidFill>
                </a:rPr>
                <a:t> </a:t>
              </a:r>
              <a:endParaRPr sz="4500">
                <a:solidFill>
                  <a:schemeClr val="lt1"/>
                </a:solidFill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401939" y="3219673"/>
              <a:ext cx="1520400" cy="1520400"/>
            </a:xfrm>
            <a:prstGeom prst="ellipse">
              <a:avLst/>
            </a:prstGeom>
            <a:solidFill>
              <a:srgbClr val="A64D79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/>
        </p:nvSpPr>
        <p:spPr>
          <a:xfrm>
            <a:off x="3614975" y="3546550"/>
            <a:ext cx="697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89400" y="526350"/>
            <a:ext cx="8315700" cy="43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Dataset - Multilingual Wikipedia Dataset (Hugging Face)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           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https://huggingface.co/datasets/wikimedia/wikipedia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         </a:t>
            </a:r>
            <a:r>
              <a:rPr lang="en" sz="2400"/>
              <a:t> - Twitter dataset (out-of-distribution evaluation)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Languages - I</a:t>
            </a:r>
            <a:r>
              <a:rPr lang="en" sz="2000"/>
              <a:t>talian (it)                      Spanish (es)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             Tamil (ta)                      English (en)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             Belarusian (be)            </a:t>
            </a:r>
            <a:r>
              <a:rPr lang="en" sz="2000"/>
              <a:t>Portuguese</a:t>
            </a:r>
            <a:r>
              <a:rPr lang="en" sz="2000"/>
              <a:t> (pt)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             Russian (ru)                  French (fr)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             German (de)                 Korean (kr)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1: PREPROCESSING 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71900" y="1919075"/>
            <a:ext cx="5427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D1117"/>
                </a:solidFill>
              </a:rPr>
              <a:t>Design to </a:t>
            </a:r>
            <a:r>
              <a:rPr lang="en" sz="1800">
                <a:solidFill>
                  <a:srgbClr val="0D1117"/>
                </a:solidFill>
              </a:rPr>
              <a:t>produce a multilingual dataset that is </a:t>
            </a:r>
            <a:endParaRPr sz="1800">
              <a:solidFill>
                <a:srgbClr val="0D1117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D1117"/>
              </a:buClr>
              <a:buSzPts val="1800"/>
              <a:buChar char="-"/>
            </a:pPr>
            <a:r>
              <a:rPr lang="en" sz="1800">
                <a:solidFill>
                  <a:srgbClr val="0D1117"/>
                </a:solidFill>
              </a:rPr>
              <a:t>Clean</a:t>
            </a:r>
            <a:endParaRPr sz="1800">
              <a:solidFill>
                <a:srgbClr val="0D111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Char char="-"/>
            </a:pPr>
            <a:r>
              <a:rPr lang="en" sz="1800">
                <a:solidFill>
                  <a:srgbClr val="0D1117"/>
                </a:solidFill>
              </a:rPr>
              <a:t>Consistent</a:t>
            </a:r>
            <a:endParaRPr sz="1800">
              <a:solidFill>
                <a:srgbClr val="0D111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Char char="-"/>
            </a:pPr>
            <a:r>
              <a:rPr lang="en" sz="1800">
                <a:solidFill>
                  <a:srgbClr val="0D1117"/>
                </a:solidFill>
              </a:rPr>
              <a:t>Standardized </a:t>
            </a:r>
            <a:endParaRPr b="1" sz="1800">
              <a:solidFill>
                <a:srgbClr val="0D1117"/>
              </a:solidFill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200" y="1942350"/>
            <a:ext cx="2940000" cy="2663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up from the side of a hand pushing a knob on an audio mixer" id="109" name="Google Shape;109;p18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Preprocessing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Removal of unwanted characters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Whitespace normalization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Tokenization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Saving in CoNLL format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</a:t>
            </a:r>
            <a:r>
              <a:rPr b="1" lang="en"/>
              <a:t>excluded</a:t>
            </a:r>
            <a:r>
              <a:rPr lang="en"/>
              <a:t> stopword removal, stemming and lemmatization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19"/>
          <p:cNvSpPr txBox="1"/>
          <p:nvPr>
            <p:ph idx="2" type="body"/>
          </p:nvPr>
        </p:nvSpPr>
        <p:spPr>
          <a:xfrm>
            <a:off x="4572000" y="1003175"/>
            <a:ext cx="43956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Run all languages sequentially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     chmod +x run.sh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    ./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run.sh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- Run a single language manually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python preprocessing.py -lang en -n 10000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Overhead shot of young people sitting on a boardwalk" id="118" name="Google Shape;118;p19"/>
          <p:cNvPicPr preferRelativeResize="0"/>
          <p:nvPr/>
        </p:nvPicPr>
        <p:blipFill rotWithShape="1">
          <a:blip r:embed="rId4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To run 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20"/>
          <p:cNvSpPr txBox="1"/>
          <p:nvPr>
            <p:ph idx="2" type="body"/>
          </p:nvPr>
        </p:nvSpPr>
        <p:spPr>
          <a:xfrm>
            <a:off x="4766175" y="1003175"/>
            <a:ext cx="4201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each lang. processed using 10,000 wiki pages (balance b/w computational cost  &amp; representativeness)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cleaned text (lang. appropriate alphabets, digits and punctuation marks)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Google Drive instead of GitHub  (file size limitation)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Overhead shot of young people sitting on a boardwalk" id="126" name="Google Shape;126;p20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Data and Configuration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4766175" y="724200"/>
            <a:ext cx="4201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Data Bias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Tokenization Accuracy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Language Characteristics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Large Scale Data Handling</a:t>
            </a:r>
            <a:endParaRPr/>
          </a:p>
        </p:txBody>
      </p:sp>
      <p:pic>
        <p:nvPicPr>
          <p:cNvPr descr="Overhead shot of young people sitting on a boardwalk" id="134" name="Google Shape;134;p21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Potential Issues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284775" y="534700"/>
            <a:ext cx="8409300" cy="97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Milestone 2</a:t>
            </a:r>
            <a:r>
              <a:rPr lang="en" sz="3100"/>
              <a:t>:  </a:t>
            </a:r>
            <a:r>
              <a:rPr lang="en" sz="3100"/>
              <a:t>MULTIPLE BASELINE SOLUTIONS</a:t>
            </a:r>
            <a:endParaRPr sz="3000"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71900" y="1919075"/>
            <a:ext cx="5427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D1117"/>
                </a:solidFill>
              </a:rPr>
              <a:t>Two baselines have been implemented:</a:t>
            </a:r>
            <a:endParaRPr sz="1800">
              <a:solidFill>
                <a:srgbClr val="0D1117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D1117"/>
              </a:buClr>
              <a:buSzPts val="1800"/>
              <a:buAutoNum type="arabicParenR"/>
            </a:pPr>
            <a:r>
              <a:rPr b="1" lang="en" sz="1800">
                <a:solidFill>
                  <a:srgbClr val="0D1117"/>
                </a:solidFill>
              </a:rPr>
              <a:t>Rule based models</a:t>
            </a:r>
            <a:endParaRPr b="1" sz="1800">
              <a:solidFill>
                <a:srgbClr val="0D111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AutoNum type="arabicParenR"/>
            </a:pPr>
            <a:r>
              <a:rPr b="1" lang="en" sz="1800">
                <a:solidFill>
                  <a:srgbClr val="0D1117"/>
                </a:solidFill>
              </a:rPr>
              <a:t>Machine learning models (Naive Bayes)</a:t>
            </a:r>
            <a:endParaRPr b="1" sz="18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D1117"/>
                </a:solidFill>
              </a:rPr>
              <a:t>Evaluation:</a:t>
            </a:r>
            <a:endParaRPr sz="1800">
              <a:solidFill>
                <a:srgbClr val="0D1117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1" lang="en" sz="1800">
                <a:solidFill>
                  <a:srgbClr val="0D1117"/>
                </a:solidFill>
              </a:rPr>
              <a:t>Quantitative</a:t>
            </a:r>
            <a:r>
              <a:rPr lang="en" sz="1800">
                <a:solidFill>
                  <a:srgbClr val="0D1117"/>
                </a:solidFill>
              </a:rPr>
              <a:t> (accuracy, precision, recall, F1)</a:t>
            </a:r>
            <a:endParaRPr sz="1800">
              <a:solidFill>
                <a:srgbClr val="0D1117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1" lang="en" sz="1800">
                <a:solidFill>
                  <a:srgbClr val="0D1117"/>
                </a:solidFill>
              </a:rPr>
              <a:t>Qualitative</a:t>
            </a:r>
            <a:r>
              <a:rPr lang="en" sz="1800">
                <a:solidFill>
                  <a:srgbClr val="0D1117"/>
                </a:solidFill>
              </a:rPr>
              <a:t> (error and confusion analysis)</a:t>
            </a:r>
            <a:br>
              <a:rPr lang="en" sz="1800">
                <a:solidFill>
                  <a:srgbClr val="0D1117"/>
                </a:solidFill>
              </a:rPr>
            </a:br>
            <a:endParaRPr sz="18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0D1117"/>
              </a:solidFill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375" y="2092800"/>
            <a:ext cx="3223500" cy="25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up from the side of a hand pushing a knob on an audio mixer" id="147" name="Google Shape;147;p23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Rule-Based Model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>
            <p:ph idx="2" type="body"/>
          </p:nvPr>
        </p:nvSpPr>
        <p:spPr>
          <a:xfrm>
            <a:off x="4640632" y="264068"/>
            <a:ext cx="4537200" cy="46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Training-free: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</a:t>
            </a:r>
            <a:r>
              <a:rPr lang="en" u="sng"/>
              <a:t>explicit linguistic rules</a:t>
            </a:r>
            <a:r>
              <a:rPr lang="en"/>
              <a:t> instead of learned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Fully </a:t>
            </a:r>
            <a:r>
              <a:rPr lang="en" u="sng"/>
              <a:t>interpretable</a:t>
            </a:r>
            <a:r>
              <a:rPr lang="en"/>
              <a:t> and deterministic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Methodology: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Script Detection</a:t>
            </a:r>
            <a:r>
              <a:rPr lang="en"/>
              <a:t> (Latin, Cyrillic, Hangul, Tamil)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Character n-grams </a:t>
            </a:r>
            <a:r>
              <a:rPr lang="en"/>
              <a:t>(bi-, tri-, four-grams)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Score each language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Predict language: </a:t>
            </a:r>
            <a:endParaRPr b="1"/>
          </a:p>
          <a:p>
            <a:pPr indent="-34290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highest score → language </a:t>
            </a:r>
            <a:endParaRPr/>
          </a:p>
          <a:p>
            <a:pPr indent="-34290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 → unknown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864075" y="1773325"/>
            <a:ext cx="302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Rule-Based Model</a:t>
            </a:r>
            <a:endParaRPr/>
          </a:p>
        </p:txBody>
      </p:sp>
      <p:pic>
        <p:nvPicPr>
          <p:cNvPr descr="Overhead shot of young people sitting on a boardwalk" id="151" name="Google Shape;151;p23"/>
          <p:cNvPicPr preferRelativeResize="0"/>
          <p:nvPr/>
        </p:nvPicPr>
        <p:blipFill rotWithShape="1">
          <a:blip r:embed="rId4">
            <a:alphaModFix/>
          </a:blip>
          <a:srcRect b="8063" l="0" r="1254" t="8630"/>
          <a:stretch/>
        </p:blipFill>
        <p:spPr>
          <a:xfrm>
            <a:off x="-30675" y="1837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939900" y="1892925"/>
            <a:ext cx="302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53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AutoNum type="arabicPeriod"/>
            </a:pPr>
            <a:r>
              <a:rPr lang="en"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Rule-Based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24"/>
          <p:cNvSpPr txBox="1"/>
          <p:nvPr>
            <p:ph idx="2" type="body"/>
          </p:nvPr>
        </p:nvSpPr>
        <p:spPr>
          <a:xfrm>
            <a:off x="4766175" y="340958"/>
            <a:ext cx="4201500" cy="451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Parameters tested: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max_sent_per_lang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</a:t>
            </a:r>
            <a:r>
              <a:rPr lang="en"/>
              <a:t>op_k_n_grams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weight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→ Total: </a:t>
            </a:r>
            <a:r>
              <a:rPr b="1" lang="en"/>
              <a:t>36 </a:t>
            </a:r>
            <a:r>
              <a:rPr b="1" lang="en"/>
              <a:t>Configuration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verhead shot of young people sitting on a boardwalk" id="159" name="Google Shape;159;p24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Hyperparameter</a:t>
            </a:r>
            <a:r>
              <a:rPr lang="en" sz="3600">
                <a:solidFill>
                  <a:schemeClr val="lt1"/>
                </a:solidFill>
              </a:rPr>
              <a:t> </a:t>
            </a:r>
            <a:r>
              <a:rPr lang="en" sz="3600">
                <a:solidFill>
                  <a:schemeClr val="lt1"/>
                </a:solidFill>
              </a:rPr>
              <a:t>Search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5"/>
          <p:cNvSpPr txBox="1"/>
          <p:nvPr>
            <p:ph idx="2" type="body"/>
          </p:nvPr>
        </p:nvSpPr>
        <p:spPr>
          <a:xfrm>
            <a:off x="4766175" y="1003175"/>
            <a:ext cx="4201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Final Configuration: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max_sent_per_lang = 50,000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top_k_n_grams = 40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weights = base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Performance: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Accuracy: 93.9%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Stable and fast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training required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Typical Confusions: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↔ ru (Cyrillic)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 ↔ pt / it / fr (Romance)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 ↔ en (Latin)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→ Errors reflect real linguistic similarity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Overhead shot of young people sitting on a boardwalk" id="167" name="Google Shape;167;p25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Rule-Based Results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26"/>
          <p:cNvSpPr txBox="1"/>
          <p:nvPr>
            <p:ph idx="2" type="body"/>
          </p:nvPr>
        </p:nvSpPr>
        <p:spPr>
          <a:xfrm>
            <a:off x="4766175" y="635426"/>
            <a:ext cx="4201500" cy="43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Multinomial Naive Bayes classifier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Methodology: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Data: 6,669,377 sentences from CoNLL-U files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Features: TF-IDF (top 1,000 features)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Split: 80/20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Naive Bayes?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Simple and fast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Well-suited for text classification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Strong baseline performance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Overhead shot of young people sitting on a boardwalk" id="175" name="Google Shape;175;p26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2. ML Baseline Model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2" name="Google Shape;182;p27"/>
          <p:cNvSpPr txBox="1"/>
          <p:nvPr>
            <p:ph idx="2" type="body"/>
          </p:nvPr>
        </p:nvSpPr>
        <p:spPr>
          <a:xfrm>
            <a:off x="4766175" y="185975"/>
            <a:ext cx="4201500" cy="475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Performance: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Accuracy: </a:t>
            </a:r>
            <a:r>
              <a:rPr b="1" lang="en"/>
              <a:t>87.27%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Strong performers: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Tamil, German, Italian, English (&gt;95% F1)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Challenges: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Belarusian (F1: 0.39) → confused with Russian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Korean (F1: 0.39) → low recall despite unique script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Russian → high recall but low precision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Overhead shot of young people sitting on a boardwalk" id="183" name="Google Shape;183;p27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ML Baseline </a:t>
            </a:r>
            <a:r>
              <a:rPr lang="en" sz="3600">
                <a:solidFill>
                  <a:schemeClr val="lt1"/>
                </a:solidFill>
              </a:rPr>
              <a:t>Results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Milestone 3: FINAL MODEL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                      RULE-AUGMENTED XLM-ROBERTa</a:t>
            </a:r>
            <a:endParaRPr sz="3000"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471900" y="2365425"/>
            <a:ext cx="5427300" cy="22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This model identifies languages by combining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 sz="1800">
                <a:solidFill>
                  <a:srgbClr val="000000"/>
                </a:solidFill>
              </a:rPr>
              <a:t>Rule-based language detector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 sz="1800">
                <a:solidFill>
                  <a:srgbClr val="000000"/>
                </a:solidFill>
              </a:rPr>
              <a:t>XLM-ROBERTa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6450" y="1998175"/>
            <a:ext cx="2298748" cy="25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up from the side of a hand pushing a knob on an audio mixer" id="196" name="Google Shape;196;p29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Key Idea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8" name="Google Shape;198;p29"/>
          <p:cNvSpPr txBox="1"/>
          <p:nvPr>
            <p:ph idx="2" type="body"/>
          </p:nvPr>
        </p:nvSpPr>
        <p:spPr>
          <a:xfrm>
            <a:off x="4731300" y="1090350"/>
            <a:ext cx="42888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Rule based model extracts linguistic signals                                               (writing system, stopwords, special characters, character n-grams 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signals → special tokens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tokens → input text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XLM-ROBERTa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-  fine-tuned on input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- internal parameters learn rule                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based signals during training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30"/>
          <p:cNvSpPr txBox="1"/>
          <p:nvPr>
            <p:ph idx="2" type="body"/>
          </p:nvPr>
        </p:nvSpPr>
        <p:spPr>
          <a:xfrm>
            <a:off x="4766175" y="1003175"/>
            <a:ext cx="4201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Each input prefixed with token&lt;SCRIPT=CYRILLIC&gt; &lt;RB=ru&gt; &lt;RB_CONF=HIGH&gt;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Token encode   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- detected writing systems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- rule based language prediction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  - confidence level                                            </a:t>
            </a:r>
            <a:endParaRPr/>
          </a:p>
        </p:txBody>
      </p:sp>
      <p:pic>
        <p:nvPicPr>
          <p:cNvPr descr="Overhead shot of young people sitting on a boardwalk" id="205" name="Google Shape;205;p30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Rule Based Tag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4766175" y="1003175"/>
            <a:ext cx="4201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python3 -m final_model.main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load wiki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split train/test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train rule-augmented XLM-ROBERTa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Evaluation</a:t>
            </a:r>
            <a:endParaRPr/>
          </a:p>
        </p:txBody>
      </p:sp>
      <p:pic>
        <p:nvPicPr>
          <p:cNvPr descr="Overhead shot of young people sitting on a boardwalk" id="213" name="Google Shape;213;p31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4602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To run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up from the side of a hand pushing a knob on an audio mixer" id="219" name="Google Shape;219;p32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Evaluation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32"/>
          <p:cNvSpPr txBox="1"/>
          <p:nvPr>
            <p:ph idx="2" type="body"/>
          </p:nvPr>
        </p:nvSpPr>
        <p:spPr>
          <a:xfrm>
            <a:off x="4572000" y="1116150"/>
            <a:ext cx="4341600" cy="226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        - </a:t>
            </a:r>
            <a:r>
              <a:rPr b="1" lang="en" sz="1900"/>
              <a:t>in-domain evaluation </a:t>
            </a:r>
            <a:endParaRPr b="1"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         (wiki test-split - measure performance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           on data with same distribution)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       </a:t>
            </a:r>
            <a:endParaRPr sz="1700"/>
          </a:p>
        </p:txBody>
      </p:sp>
      <p:sp>
        <p:nvSpPr>
          <p:cNvPr id="222" name="Google Shape;222;p32"/>
          <p:cNvSpPr txBox="1"/>
          <p:nvPr/>
        </p:nvSpPr>
        <p:spPr>
          <a:xfrm>
            <a:off x="4661125" y="524300"/>
            <a:ext cx="44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final model compared to baseline with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4818025" y="3312900"/>
            <a:ext cx="4091700" cy="20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1"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out-of-distribution evaluation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(twitter dataset - evaluate      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robustness and generalization)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idx="4294967295" type="ctrTitle"/>
          </p:nvPr>
        </p:nvSpPr>
        <p:spPr>
          <a:xfrm>
            <a:off x="390525" y="16290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Results</a:t>
            </a:r>
            <a:endParaRPr sz="3900"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2750"/>
            <a:ext cx="8839198" cy="234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idx="4294967295" type="ctrTitle"/>
          </p:nvPr>
        </p:nvSpPr>
        <p:spPr>
          <a:xfrm>
            <a:off x="390525" y="16290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Results</a:t>
            </a:r>
            <a:endParaRPr sz="3900"/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7625"/>
            <a:ext cx="8839201" cy="2318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idx="4294967295" type="ctrTitle"/>
          </p:nvPr>
        </p:nvSpPr>
        <p:spPr>
          <a:xfrm>
            <a:off x="390525" y="16290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Results</a:t>
            </a:r>
            <a:endParaRPr sz="3900"/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800" y="865300"/>
            <a:ext cx="6037200" cy="37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5"/>
          <p:cNvSpPr txBox="1"/>
          <p:nvPr/>
        </p:nvSpPr>
        <p:spPr>
          <a:xfrm>
            <a:off x="145300" y="1406475"/>
            <a:ext cx="2580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shared script →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most errors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- Fine-tuned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XLM-ROBERTa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has fewer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misclassifications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pattern observed on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Wiki dataset and on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robust twitter dataset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>
            <p:ph idx="4294967295" type="title"/>
          </p:nvPr>
        </p:nvSpPr>
        <p:spPr>
          <a:xfrm>
            <a:off x="311700" y="220100"/>
            <a:ext cx="85206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THE TEAM </a:t>
            </a:r>
            <a:endParaRPr i="1" sz="1600"/>
          </a:p>
        </p:txBody>
      </p:sp>
      <p:sp>
        <p:nvSpPr>
          <p:cNvPr id="249" name="Google Shape;249;p36"/>
          <p:cNvSpPr txBox="1"/>
          <p:nvPr>
            <p:ph idx="4294967295" type="title"/>
          </p:nvPr>
        </p:nvSpPr>
        <p:spPr>
          <a:xfrm>
            <a:off x="231725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41B47"/>
                </a:solidFill>
              </a:rPr>
              <a:t>Rebecca Micol  </a:t>
            </a:r>
            <a:endParaRPr sz="1800">
              <a:solidFill>
                <a:srgbClr val="741B47"/>
              </a:solidFill>
            </a:endParaRPr>
          </a:p>
        </p:txBody>
      </p:sp>
      <p:sp>
        <p:nvSpPr>
          <p:cNvPr id="250" name="Google Shape;250;p36"/>
          <p:cNvSpPr txBox="1"/>
          <p:nvPr>
            <p:ph idx="4294967295" type="body"/>
          </p:nvPr>
        </p:nvSpPr>
        <p:spPr>
          <a:xfrm>
            <a:off x="231725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Preprocessing, Final Model Evaluation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1" name="Google Shape;251;p36"/>
          <p:cNvSpPr txBox="1"/>
          <p:nvPr>
            <p:ph idx="4294967295" type="title"/>
          </p:nvPr>
        </p:nvSpPr>
        <p:spPr>
          <a:xfrm>
            <a:off x="2449668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41B47"/>
                </a:solidFill>
                <a:highlight>
                  <a:schemeClr val="lt1"/>
                </a:highlight>
              </a:rPr>
              <a:t>Olesia</a:t>
            </a:r>
            <a:r>
              <a:rPr lang="en" sz="2200">
                <a:solidFill>
                  <a:srgbClr val="741B47"/>
                </a:solidFill>
                <a:highlight>
                  <a:schemeClr val="lt1"/>
                </a:highlight>
              </a:rPr>
              <a:t> </a:t>
            </a:r>
            <a:r>
              <a:rPr lang="en" sz="1800">
                <a:solidFill>
                  <a:srgbClr val="741B47"/>
                </a:solidFill>
                <a:highlight>
                  <a:schemeClr val="lt1"/>
                </a:highlight>
              </a:rPr>
              <a:t>Galynskaia</a:t>
            </a:r>
            <a:endParaRPr sz="2300">
              <a:solidFill>
                <a:srgbClr val="741B47"/>
              </a:solidFill>
              <a:highlight>
                <a:schemeClr val="lt1"/>
              </a:highlight>
            </a:endParaRPr>
          </a:p>
        </p:txBody>
      </p:sp>
      <p:sp>
        <p:nvSpPr>
          <p:cNvPr id="252" name="Google Shape;252;p36"/>
          <p:cNvSpPr txBox="1"/>
          <p:nvPr>
            <p:ph idx="4294967295" type="title"/>
          </p:nvPr>
        </p:nvSpPr>
        <p:spPr>
          <a:xfrm>
            <a:off x="4667629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41B47"/>
                </a:solidFill>
              </a:rPr>
              <a:t>Yeongshin Park</a:t>
            </a:r>
            <a:endParaRPr sz="1800">
              <a:solidFill>
                <a:srgbClr val="741B47"/>
              </a:solidFill>
            </a:endParaRPr>
          </a:p>
        </p:txBody>
      </p:sp>
      <p:sp>
        <p:nvSpPr>
          <p:cNvPr id="253" name="Google Shape;253;p36"/>
          <p:cNvSpPr txBox="1"/>
          <p:nvPr>
            <p:ph idx="4294967295" type="body"/>
          </p:nvPr>
        </p:nvSpPr>
        <p:spPr>
          <a:xfrm>
            <a:off x="2449668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Preprocessing, Rule-Based Model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4" name="Google Shape;254;p36"/>
          <p:cNvSpPr txBox="1"/>
          <p:nvPr>
            <p:ph idx="4294967295" type="body"/>
          </p:nvPr>
        </p:nvSpPr>
        <p:spPr>
          <a:xfrm>
            <a:off x="4667629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Preprocessing, </a:t>
            </a:r>
            <a:r>
              <a:rPr lang="en" sz="1200">
                <a:solidFill>
                  <a:schemeClr val="dk2"/>
                </a:solidFill>
              </a:rPr>
              <a:t>Final Model Evaluation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5" name="Google Shape;255;p36"/>
          <p:cNvSpPr txBox="1"/>
          <p:nvPr>
            <p:ph idx="4294967295" type="title"/>
          </p:nvPr>
        </p:nvSpPr>
        <p:spPr>
          <a:xfrm>
            <a:off x="6885590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41B47"/>
                </a:solidFill>
              </a:rPr>
              <a:t>Julia Chalissery</a:t>
            </a:r>
            <a:endParaRPr sz="1800">
              <a:solidFill>
                <a:srgbClr val="741B47"/>
              </a:solidFill>
            </a:endParaRPr>
          </a:p>
        </p:txBody>
      </p:sp>
      <p:sp>
        <p:nvSpPr>
          <p:cNvPr id="256" name="Google Shape;256;p36"/>
          <p:cNvSpPr txBox="1"/>
          <p:nvPr>
            <p:ph idx="4294967295" type="body"/>
          </p:nvPr>
        </p:nvSpPr>
        <p:spPr>
          <a:xfrm>
            <a:off x="6885590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Preprocessing, Machine Learning Model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7"/>
          <p:cNvPicPr preferRelativeResize="0"/>
          <p:nvPr/>
        </p:nvPicPr>
        <p:blipFill rotWithShape="1">
          <a:blip r:embed="rId3">
            <a:alphaModFix/>
          </a:blip>
          <a:srcRect b="947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